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3405A-8F18-48B9-8906-5DD25CC1F57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22384-F533-4EB1-84A1-FA3FFCDA36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00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2384-F533-4EB1-84A1-FA3FFCDA367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3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Workflow (Inputs → Decision Logic)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2384-F533-4EB1-84A1-FA3FFCDA367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26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Actions and Learning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2384-F533-4EB1-84A1-FA3FFCDA36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83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AI handles repetitive analytical tasks, while human experts ensure ethical and strategic decision-making.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2384-F533-4EB1-84A1-FA3FFCDA367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721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Responsible AI Guardrails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22384-F533-4EB1-84A1-FA3FFCDA367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303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821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9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488F-3EF7-C999-5693-EB2154F68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2428568"/>
            <a:ext cx="7977600" cy="1907458"/>
          </a:xfrm>
        </p:spPr>
        <p:txBody>
          <a:bodyPr/>
          <a:lstStyle/>
          <a:p>
            <a:r>
              <a:rPr lang="en-US" dirty="0"/>
              <a:t>AI-Powered Collections Strategy for </a:t>
            </a:r>
            <a:r>
              <a:rPr lang="en-US" dirty="0" err="1"/>
              <a:t>Geldium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75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AAEB-FC98-9759-BED7-4A5ACE9A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AI-Powered Collections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2235-179C-7ED5-8AF6-0A7E39D3F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5772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Customer Data Inputs</a:t>
            </a:r>
          </a:p>
          <a:p>
            <a:r>
              <a:rPr lang="en-US" dirty="0"/>
              <a:t>Customer demographic information (age, income, account tenure)</a:t>
            </a:r>
          </a:p>
          <a:p>
            <a:r>
              <a:rPr lang="en-US" dirty="0"/>
              <a:t>Financial indicators (credit utilization, debt-to-income ratio)</a:t>
            </a:r>
          </a:p>
          <a:p>
            <a:r>
              <a:rPr lang="en-US" dirty="0"/>
              <a:t>Payment history and missed payments</a:t>
            </a:r>
          </a:p>
          <a:p>
            <a:r>
              <a:rPr lang="en-US" dirty="0"/>
              <a:t>Credit behavior patterns from historical records</a:t>
            </a:r>
          </a:p>
          <a:p>
            <a:pPr marL="0" indent="0">
              <a:buNone/>
            </a:pPr>
            <a:r>
              <a:rPr lang="en-US" b="1" dirty="0"/>
              <a:t>Risk Prediction Model</a:t>
            </a:r>
            <a:endParaRPr lang="en-US" dirty="0"/>
          </a:p>
          <a:p>
            <a:r>
              <a:rPr lang="en-US" dirty="0"/>
              <a:t>Logistic regression model analyzes financial and behavioral data</a:t>
            </a:r>
          </a:p>
          <a:p>
            <a:r>
              <a:rPr lang="en-US" dirty="0"/>
              <a:t>Calculates probability of payment delinquency</a:t>
            </a:r>
          </a:p>
          <a:p>
            <a:r>
              <a:rPr lang="en-US" dirty="0"/>
              <a:t>Customers are categorized into </a:t>
            </a:r>
            <a:r>
              <a:rPr lang="en-US" b="1" dirty="0"/>
              <a:t>low, medium, or high risk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Decision Engine</a:t>
            </a:r>
            <a:endParaRPr lang="en-US" dirty="0"/>
          </a:p>
          <a:p>
            <a:r>
              <a:rPr lang="en-US" dirty="0"/>
              <a:t>The system selects appropriate intervention strategies</a:t>
            </a:r>
          </a:p>
          <a:p>
            <a:r>
              <a:rPr lang="en-US" dirty="0"/>
              <a:t>Examples include payment reminders, outreach campaigns, or financial guidance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58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3CDA-9AC8-ABB2-98D8-64B54A00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System Actions and Continuous Learning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E7A3-3D3B-73DE-6396-98702C42E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5968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Automated Actions</a:t>
            </a:r>
            <a:endParaRPr lang="en-US" dirty="0"/>
          </a:p>
          <a:p>
            <a:r>
              <a:rPr lang="en-US" dirty="0"/>
              <a:t>Send SMS payment reminders</a:t>
            </a:r>
          </a:p>
          <a:p>
            <a:r>
              <a:rPr lang="en-US" dirty="0"/>
              <a:t>Notify customers of upcoming due dates</a:t>
            </a:r>
          </a:p>
          <a:p>
            <a:r>
              <a:rPr lang="en-US" dirty="0"/>
              <a:t>Offer payment assistance or installment options</a:t>
            </a:r>
          </a:p>
          <a:p>
            <a:r>
              <a:rPr lang="en-US" dirty="0"/>
              <a:t>Prioritize high-risk accounts for collections teams</a:t>
            </a:r>
          </a:p>
          <a:p>
            <a:pPr marL="0" indent="0">
              <a:buNone/>
            </a:pPr>
            <a:r>
              <a:rPr lang="en-US" b="1" dirty="0"/>
              <a:t>Feedback and Learning Loop</a:t>
            </a:r>
            <a:endParaRPr lang="en-US" dirty="0"/>
          </a:p>
          <a:p>
            <a:r>
              <a:rPr lang="en-US" dirty="0"/>
              <a:t>Monitor customer responses to outreach</a:t>
            </a:r>
          </a:p>
          <a:p>
            <a:r>
              <a:rPr lang="en-US" dirty="0"/>
              <a:t>Track payment outcomes and delinquency changes</a:t>
            </a:r>
          </a:p>
          <a:p>
            <a:r>
              <a:rPr lang="en-US" dirty="0"/>
              <a:t>Update predictive model with new data</a:t>
            </a:r>
          </a:p>
          <a:p>
            <a:r>
              <a:rPr lang="en-US" dirty="0"/>
              <a:t>Continuously improve prediction accuracy and intervention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55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BF89-94FD-C4DD-84A5-41ED8F13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Role of Agentic AI in the System</a:t>
            </a:r>
            <a:endParaRPr lang="en-IN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13D6B4-DC86-6AF4-F967-C1470D4C5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318046"/>
              </p:ext>
            </p:extLst>
          </p:nvPr>
        </p:nvGraphicFramePr>
        <p:xfrm>
          <a:off x="989013" y="1720645"/>
          <a:ext cx="10213974" cy="4395020"/>
        </p:xfrm>
        <a:graphic>
          <a:graphicData uri="http://schemas.openxmlformats.org/drawingml/2006/table">
            <a:tbl>
              <a:tblPr/>
              <a:tblGrid>
                <a:gridCol w="5106987">
                  <a:extLst>
                    <a:ext uri="{9D8B030D-6E8A-4147-A177-3AD203B41FA5}">
                      <a16:colId xmlns:a16="http://schemas.microsoft.com/office/drawing/2014/main" val="1610768885"/>
                    </a:ext>
                  </a:extLst>
                </a:gridCol>
                <a:gridCol w="5106987">
                  <a:extLst>
                    <a:ext uri="{9D8B030D-6E8A-4147-A177-3AD203B41FA5}">
                      <a16:colId xmlns:a16="http://schemas.microsoft.com/office/drawing/2014/main" val="976731414"/>
                    </a:ext>
                  </a:extLst>
                </a:gridCol>
              </a:tblGrid>
              <a:tr h="87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Autonomous AI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Human Oversight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153984"/>
                  </a:ext>
                </a:extLst>
              </a:tr>
              <a:tr h="87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Analyze customer financial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Review high-risk customer classifications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062683"/>
                  </a:ext>
                </a:extLst>
              </a:tr>
              <a:tr h="87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Predict delinquency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Approve intervention strategies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62389"/>
                  </a:ext>
                </a:extLst>
              </a:tr>
              <a:tr h="87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Trigger automated payment reminders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Monitor fairness and bias in model predictions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543602"/>
                  </a:ext>
                </a:extLst>
              </a:tr>
              <a:tr h="87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Prioritize accounts for outreach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Review system performance and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10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42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1A5C-F953-7A35-2F1A-5FEF6D3F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Responsible AI and Ethical Safeguards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8736-E749-F61D-A6F2-27236505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Fairness Monitoring:</a:t>
            </a:r>
            <a:r>
              <a:rPr lang="en-US" dirty="0"/>
              <a:t> Regularly test the model to ensure it does not disproportionately affect specific demographic groups.</a:t>
            </a:r>
          </a:p>
          <a:p>
            <a:pPr marL="0" indent="0">
              <a:buNone/>
            </a:pPr>
            <a:r>
              <a:rPr lang="en-US" b="1" dirty="0"/>
              <a:t>Explainability:</a:t>
            </a:r>
            <a:r>
              <a:rPr lang="en-US" dirty="0"/>
              <a:t> Use interpretable models such as logistic regression so stakeholders understand why a customer is classified as high risk.</a:t>
            </a:r>
          </a:p>
          <a:p>
            <a:pPr marL="0" indent="0">
              <a:buNone/>
            </a:pPr>
            <a:r>
              <a:rPr lang="en-US" b="1" dirty="0"/>
              <a:t>Human Oversight:</a:t>
            </a:r>
            <a:r>
              <a:rPr lang="en-US" dirty="0"/>
              <a:t> Critical decisions involving collections actions are reviewed by trained staff.</a:t>
            </a:r>
          </a:p>
          <a:p>
            <a:pPr marL="0" indent="0">
              <a:buNone/>
            </a:pPr>
            <a:r>
              <a:rPr lang="en-US" b="1" dirty="0"/>
              <a:t>Data Privacy Protection:</a:t>
            </a:r>
            <a:r>
              <a:rPr lang="en-US" dirty="0"/>
              <a:t> Customer data is anonymized and handled according to financial data protection regulations.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25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4B87-00A2-18F6-1E42-BE012F7D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Expected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4C39-F692-DF15-A8D6-0E3996B1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6165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Business KPIs</a:t>
            </a:r>
          </a:p>
          <a:p>
            <a:r>
              <a:rPr lang="en-US" dirty="0"/>
              <a:t>Reduce 30-day delinquency rates by </a:t>
            </a:r>
            <a:r>
              <a:rPr lang="en-US" b="1" dirty="0"/>
              <a:t>10–15%</a:t>
            </a:r>
            <a:endParaRPr lang="en-US" dirty="0"/>
          </a:p>
          <a:p>
            <a:r>
              <a:rPr lang="en-US" dirty="0"/>
              <a:t>Improve collections team efficiency through risk prioritization</a:t>
            </a:r>
          </a:p>
          <a:p>
            <a:r>
              <a:rPr lang="en-US" dirty="0"/>
              <a:t>Lower operational costs through automation</a:t>
            </a:r>
          </a:p>
          <a:p>
            <a:r>
              <a:rPr lang="en-US" dirty="0"/>
              <a:t>Increase accuracy of risk detection</a:t>
            </a:r>
          </a:p>
          <a:p>
            <a:pPr marL="0" indent="0">
              <a:buNone/>
            </a:pPr>
            <a:r>
              <a:rPr lang="en-US" b="1" dirty="0"/>
              <a:t>Customer Outcomes</a:t>
            </a:r>
          </a:p>
          <a:p>
            <a:r>
              <a:rPr lang="en-US" dirty="0"/>
              <a:t>Timely reminders help customers avoid missed payments</a:t>
            </a:r>
          </a:p>
          <a:p>
            <a:r>
              <a:rPr lang="en-US" dirty="0"/>
              <a:t>More supportive and proactive communication</a:t>
            </a:r>
          </a:p>
          <a:p>
            <a:r>
              <a:rPr lang="en-US" dirty="0"/>
              <a:t>Fair and transparent credit risk assessment</a:t>
            </a:r>
          </a:p>
          <a:p>
            <a:r>
              <a:rPr lang="en-US" dirty="0"/>
              <a:t>Improved customer trust and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06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4FF2-2EEC-4E6A-EC95-54C120C9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222090"/>
            <a:ext cx="10213200" cy="1445341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957035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</Template>
  <TotalTime>11</TotalTime>
  <Words>360</Words>
  <Application>Microsoft Office PowerPoint</Application>
  <PresentationFormat>Widescreen</PresentationFormat>
  <Paragraphs>62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Calibri</vt:lpstr>
      <vt:lpstr>Goudy Old Style</vt:lpstr>
      <vt:lpstr>Wingdings</vt:lpstr>
      <vt:lpstr>FrostyVTI</vt:lpstr>
      <vt:lpstr>AI-Powered Collections Strategy for Geldium</vt:lpstr>
      <vt:lpstr>AI-Powered Collections System Overview</vt:lpstr>
      <vt:lpstr>System Actions and Continuous Learning</vt:lpstr>
      <vt:lpstr>Role of Agentic AI in the System</vt:lpstr>
      <vt:lpstr>Responsible AI and Ethical Safeguards</vt:lpstr>
      <vt:lpstr>Expected Business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Ekambaram</dc:creator>
  <cp:lastModifiedBy>krishna Ekambaram</cp:lastModifiedBy>
  <cp:revision>1</cp:revision>
  <dcterms:created xsi:type="dcterms:W3CDTF">2026-03-11T13:03:37Z</dcterms:created>
  <dcterms:modified xsi:type="dcterms:W3CDTF">2026-03-11T13:14:41Z</dcterms:modified>
</cp:coreProperties>
</file>